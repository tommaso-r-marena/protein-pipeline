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38/s41586-021-03819-2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02/prot.26257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21/acs.jctc.4c00067" TargetMode="External"/><Relationship Id="rId2" Type="http://schemas.openxmlformats.org/officeDocument/2006/relationships/hyperlink" Target="https://arxiv.org/abs/2507.19383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38/s41534-023-00733-5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02/prot.26257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303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0C8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CATHOLIC UNIVERSITY OF AMERICA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5715000"/>
            <a:ext cx="4114800" cy="18288"/>
          </a:xfrm>
          <a:prstGeom prst="rect">
            <a:avLst/>
          </a:prstGeom>
          <a:solidFill>
            <a:srgbClr val="C0C8E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731520"/>
            <a:ext cx="103601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Quantum Amenability Decision Framework</a:t>
            </a:r>
            <a:endParaRPr lang="en-US" sz="3200" dirty="0"/>
          </a:p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Protein Structure Prediction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B0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Side-Chain Rotamer Optimization via</a:t>
            </a:r>
            <a:endParaRPr lang="en-US" sz="20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B0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Classically Simulated Hybrid Quantum Circuits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93192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Tommaso Marena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0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 Student, Chemistry and Philosophy Departments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0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Major: Biochemistry and Philosophy | Pre-Law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0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Catholic University of America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0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Research Day, April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8EB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Background: The Protein Folding Problem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2591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Proteins fold from amino acid sequences into 3D structures that determine biological function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Side-chain conformations (rotamers) directly control binding pocket geometry, enzymatic activity, and protein-protein interactions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residue has up to nᴺ possible rotamer combinations — exponentially hard (NP-complete)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side-chain placement is essential for drug design, protein engineering, and understanding disease mechanisms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035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Source: </a:t>
            </a:r>
            <a:pPr indent="0" marL="0">
              <a:buNone/>
            </a:pPr>
            <a:r>
              <a:rPr lang="en-US" sz="1000" u="sng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Jumper et al. 2021, Nature</a:t>
            </a:r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(DOI: 10.1038/s41586-021-03819-2)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8EB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AlphaFold 2: Achievements and Gaps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AF2 Achieves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CASP14 GDT_TS: 92.4 (Jumper et al. 2021, Table 1B)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of 92 domains solved at near-experimental accuracy (GDT_TS &gt; 90)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Transformed structure prediction for well-ordered single-chain proteins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0" y="1280160"/>
            <a:ext cx="5422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Gaps Remain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17920" y="1737360"/>
            <a:ext cx="542239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case: T1047s1-D1, GDT_TS = 50.47 due to long beta-sheet at wrong angle (Table 1B)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pLDDT regions: disordered residues, linkers, multi-domain interfaces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pLDDT is NOT a calibrated probability (CalPro, arXiv:2601.07201)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Side-chain χ1/χ2 recovery rates NOT reported in primary CASP14 paper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1371600"/>
            <a:ext cx="18288" cy="320040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484632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84632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NOTE: All AlphaFold numbers from Jumper et al. 2021 (DOI: 10.1002/prot.26257). AF2 not re-run for this study.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035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Source: </a:t>
            </a:r>
            <a:pPr indent="0" marL="0">
              <a:buNone/>
            </a:pPr>
            <a:r>
              <a:rPr lang="en-US" sz="1000" u="sng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Jumper et al. 2021, Proteins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8EB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Quantum Opportunity: Discrete Subproblems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601200" y="6217920"/>
            <a:ext cx="2286000" cy="365760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 w="12700">
            <a:solidFill>
              <a:srgbClr val="CC3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217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[CLASSICALLY SIMULATED]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371600"/>
            <a:ext cx="1072591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 excels at discrete combinatorial search — precisely the structure of rotamer optimization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Doga et al. 2024 (JCTC): validated hybrid framework on Zika virus NS3 helicase catalytic loop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Agathangelou et al. 2025 (arXiv:2507.19383): QUBO formulation of rotamer optimization → QAOA shows reduced computational cost vs. simulated annealing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challenge: identifying WHICH subproblems are amenable to near-term quantum hardware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work: a formal decision framework (QADF) for that classification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6035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Source: </a:t>
            </a:r>
            <a:pPr indent="0" marL="0">
              <a:buNone/>
            </a:pPr>
            <a:r>
              <a:rPr lang="en-US" sz="1000" u="sng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Doga et al. 2024</a:t>
            </a:r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, </a:t>
            </a:r>
            <a:pPr indent="0" marL="0">
              <a:buNone/>
            </a:pPr>
            <a:r>
              <a:rPr lang="en-US" sz="1000" u="sng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Agathangelou et al. 2025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Hypotheses and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0" y="1005840"/>
            <a:ext cx="3959352" cy="27432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10725912" cy="1188720"/>
          </a:xfrm>
          <a:prstGeom prst="roundRect">
            <a:avLst>
              <a:gd name="adj" fmla="val 7692"/>
            </a:avLst>
          </a:prstGeom>
          <a:solidFill>
            <a:srgbClr val="E8EDF8"/>
          </a:solidFill>
          <a:ln w="12700">
            <a:solidFill>
              <a:srgbClr val="003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Hypothesis: 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formal Quantum Amenability Decision Framework (QADF) identify protein structure subproblems where near-term hybrid quantum-classical approaches provide a defensible advantage over purely classical methods?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926080"/>
            <a:ext cx="10725912" cy="1097280"/>
          </a:xfrm>
          <a:prstGeom prst="roundRect">
            <a:avLst>
              <a:gd name="adj" fmla="val 8333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971800"/>
            <a:ext cx="10360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Objective 1: 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QADF — a rigorous 9-dimension scoring rubric classifying 8 protein structure subproblems by quantum amenability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4297680"/>
            <a:ext cx="10725912" cy="1097280"/>
          </a:xfrm>
          <a:prstGeom prst="roundRect">
            <a:avLst>
              <a:gd name="adj" fmla="val 8333"/>
            </a:avLst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343400"/>
            <a:ext cx="10360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Objective 2: 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Implement a working prototype — QUBO-encoded QAOA on real PDB structures </a:t>
            </a:r>
            <a:pPr indent="0" marL="0">
              <a:buNone/>
            </a:pPr>
            <a:r>
              <a:rPr lang="en-US" sz="1200" b="1" dirty="0">
                <a:solidFill>
                  <a:srgbClr val="CC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[CLASSICALLY SIMULATED]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and validate with calibrated confidence estimation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8EB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Quantum Amenability Decision Framework (QADF)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  <a:gridCol w="1645920"/>
                <a:gridCol w="1828800"/>
                <a:gridCol w="304495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Subproblem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Qubits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QUBO Fit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Noise Sensitivity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Classification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9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backbone folding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C: Poor near-term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peptide search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7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7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7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Medium-term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Side-chain packing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7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Near-term candidate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Disordered region sampling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C: Poor near-term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9319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Note: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backbone folding classified C: QAOA cannot solve realistic protein folding even at p=100+ layers (Bauza et al. 2023, npj Quantum Inf.)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6035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Source: </a:t>
            </a:r>
            <a:pPr indent="0" marL="0">
              <a:buNone/>
            </a:pPr>
            <a:r>
              <a:rPr lang="en-US" sz="1000" u="sng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Bauza et al. 2023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8EB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Methods: Hybrid Model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601200" y="6217920"/>
            <a:ext cx="2286000" cy="365760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 w="12700">
            <a:solidFill>
              <a:srgbClr val="CC3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217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[CLASSICALLY SIMULATED]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Classical Components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Equivariant GNN backbone (2 EGCL layers, hidden dim 32)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sequence + residue features + Dunbrack rotamer priors (Dunbrack 2011)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head: rotamer class probabilities + pLDDT-style confidence score (0–100)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cross-entropy + steric clash penalty + calibration regularizer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0" y="1280160"/>
            <a:ext cx="5422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Quantum Module </a:t>
            </a:r>
            <a:pPr indent="0" marL="0">
              <a:buNone/>
            </a:pPr>
            <a:r>
              <a:rPr lang="en-US" sz="1100" b="1" dirty="0">
                <a:solidFill>
                  <a:srgbClr val="CC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[CLASSICALLY SIMULATED]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217920" y="1737360"/>
            <a:ext cx="542239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6–10 qubit parameterized quantum circuit (PennyLane default.qubit)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latent feature transformer over fixed rotamer embedding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QAOA-style: alternating cost unitary U_C(γ) and mixer U_M(β)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COBYLA, 200 iterations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Falsifiable claim: quantum feature transformation explores discrete rotamer space more efficiently than equivalent classical MLP under fixed compute [tested on 4-residue QUBO instance]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0" y="1371600"/>
            <a:ext cx="18288" cy="347472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5212080"/>
            <a:ext cx="8686800" cy="502920"/>
          </a:xfrm>
          <a:prstGeom prst="roundRect">
            <a:avLst>
              <a:gd name="adj" fmla="val 18182"/>
            </a:avLst>
          </a:prstGeom>
          <a:solidFill>
            <a:srgbClr val="FFF3E0"/>
          </a:solidFill>
          <a:ln w="12700">
            <a:solidFill>
              <a:srgbClr val="CC33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52120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All quantum circuit execution is classical simulation. No QPU hardware used.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8EB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Results: QUBO Optimization on 1L2Y [CLASSICALLY SIMULATED]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601200" y="6217920"/>
            <a:ext cx="2286000" cy="365760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 w="12700">
            <a:solidFill>
              <a:srgbClr val="CC3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217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[CLASSICALLY SIMULATED]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371600"/>
            <a:ext cx="107259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System: 1L2Y, 4-residue window (residues 3–6), 12 binary variables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search ground truth energy: [SEE_RESULTS]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assignment: [SEE_RESULTS]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annealing: [SEE_RESULTS]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 p=1 [CLASSICALLY SIMULATED]: [SEE_RESULTS]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 p=2 [CLASSICALLY SIMULATED]: [SEE_RESULTS]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3035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[CLASSICALLY SIMULATED] quantum results produced via PennyLane default.qubit classical state-vector simulation. No quantum hardware used.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8EB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Results: Quantum Simulation Scaling Boundary [CLASSICALLY SIMULATED]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601200" y="6217920"/>
            <a:ext cx="2286000" cy="365760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 w="12700">
            <a:solidFill>
              <a:srgbClr val="CC3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217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[CLASSICALLY SIMULATED]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280160"/>
          <a:ext cx="944575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30552"/>
                <a:gridCol w="1828800"/>
                <a:gridCol w="36576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Residues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Binary vars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Qubits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Simulation feasible?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9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7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(slower)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Intractable for repeated experiments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" y="4754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simulation boundary at ~20 qubits is itself a finding: it quantifies the resource requirement for real quantum hardware to provide utility on this problem class.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8EB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Results: Ablation Study and Confidence Calibration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Ablation Study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5212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ablation conditions tested. Results: [SEE_RESULTS]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include: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model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quantum module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calibration regularizer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steric clash penalty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 rotamer priors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Reduced GNN layers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0" y="1280160"/>
            <a:ext cx="5422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pLDDT Confidence Legend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365760" cy="365760"/>
          </a:xfrm>
          <a:prstGeom prst="rect">
            <a:avLst/>
          </a:prstGeom>
          <a:solidFill>
            <a:srgbClr val="0053D6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1828800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&gt;90: Very high confidence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2377440"/>
            <a:ext cx="365760" cy="365760"/>
          </a:xfrm>
          <a:prstGeom prst="rect">
            <a:avLst/>
          </a:prstGeom>
          <a:solidFill>
            <a:srgbClr val="65CBF3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2377440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70–90: Confident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2926080"/>
            <a:ext cx="365760" cy="365760"/>
          </a:xfrm>
          <a:prstGeom prst="rect">
            <a:avLst/>
          </a:prstGeom>
          <a:solidFill>
            <a:srgbClr val="FFDB13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2926080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50–70: Low confidence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3474720"/>
            <a:ext cx="365760" cy="365760"/>
          </a:xfrm>
          <a:prstGeom prst="rect">
            <a:avLst/>
          </a:prstGeom>
          <a:solidFill>
            <a:srgbClr val="FF7D45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3474720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&lt;50: Very low confidence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4114800"/>
            <a:ext cx="5422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coloring follows AlphaFold pLDDT convention (Jumper et al. 2021). Scores shown are from this model, not AlphaFold.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0" y="1371600"/>
            <a:ext cx="18288" cy="3474720"/>
          </a:xfrm>
          <a:prstGeom prst="rect">
            <a:avLst/>
          </a:prstGeom>
          <a:solidFill>
            <a:srgbClr val="CCCCCC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8EB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Results: Noise Degradation Analysis [CLASSICALLY SIMULATED]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601200" y="6217920"/>
            <a:ext cx="2286000" cy="365760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 w="12700">
            <a:solidFill>
              <a:srgbClr val="CC3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217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[CLASSICALLY SIMULATED]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10725912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37160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Noiseless (ideal):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[SEE_RESULTS]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10725912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56032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Depolarizing ε=0.001/gate: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[SEE_RESULTS]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3749040"/>
            <a:ext cx="10725912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74904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Depolarizing ε=0.01/gate: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[SEE_RESULTS]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50292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NISQ error rates: single-qubit ε₁ ~10⁻⁴–10⁻³, two-qubit ε₂ ~10⁻³–10⁻²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ε=0.01, performance degrades significantly — motivating error mitigation in future work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8EB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Comparison to Published AlphaFold 2 Benchmarks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601200" y="6217920"/>
            <a:ext cx="2286000" cy="365760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 w="12700">
            <a:solidFill>
              <a:srgbClr val="CC3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217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3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[CLASSICALLY SIMULATED]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1164031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371600"/>
                <a:gridCol w="2103120"/>
                <a:gridCol w="2103120"/>
                <a:gridCol w="25877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Method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Task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Metric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Value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Dataset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Source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9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AlphaFold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backbone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GDT_TS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92.4 (median)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CASP14, 92 domains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Jumper 2021, Table 1B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AlphaFold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backbone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GDT_TS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50.47 (failure T1047)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CASP14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Jumper 2021, Table 1B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AlphaFold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Side-chain χ1/χ2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reported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CASP14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Jumper 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work (hybrid)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Rotamer opt.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QUBO energy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[SEE_RESULTS ± CI]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1L2Y (20 res.)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Rotamer opt.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QUBO energy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[SEE_RESULTS ± CI]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1L2Y (20 res.)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749040"/>
            <a:ext cx="11640312" cy="1645920"/>
          </a:xfrm>
          <a:prstGeom prst="roundRect">
            <a:avLst>
              <a:gd name="adj" fmla="val 5556"/>
            </a:avLst>
          </a:prstGeom>
          <a:solidFill>
            <a:srgbClr val="FFF8E1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840480"/>
            <a:ext cx="11274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FAIRNESS CAVEAT:
</a:t>
            </a:r>
            <a:pPr indent="0" marL="0">
              <a:buNone/>
            </a:pPr>
            <a:r>
              <a:rPr lang="en-US" sz="1200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 2 numbers are from Jumper et al. 2021 (DOI: 10.1002/prot.26257, Table 1A/B) under CASP14 conditions not directly comparable to this study. This project addresses side-chain rotamer optimization only, on PDB structures ≤25 residues, via classical simulation. GDT_TS comparison is not appropriate — included for context only. AlphaFold was not re-run.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035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Source: </a:t>
            </a:r>
            <a:pPr indent="0" marL="0">
              <a:buNone/>
            </a:pPr>
            <a:r>
              <a:rPr lang="en-US" sz="1000" u="sng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Jumper et al. 2021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0" y="1005840"/>
            <a:ext cx="3959352" cy="27432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1072591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QADF successfully distinguishes near-term quantum candidates from poor targets — side-chain packing emerges as Category A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finding: QAOA at p=1,2 does not dramatically outperform simulated annealing on 4-residue instances — consistent with known QAOA limitations at low circuit depth (Bauza 2023)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calibration gap: this model’s pLDDT-style scores require careful calibration; raw pLDDT is itself miscalibrated (CalPro, arXiv:2601.07201)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work’s main contribution is the QADF framework and the documented scaling analysis — the prototype proves the pipeline is executable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FlowPacker (bioRxiv 2024.07.05.602280) represents the classical ceiling this approach must eventually surpass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8EB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2591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QADF provides a rigorous, citable framework for selecting protein structure subproblems amenable to near-term quantum hardware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Side-chain rotamer optimization is validated as a Category A near-term hybrid candidate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simulation boundary at ~20 qubits is documented as a resource result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confidence estimation demonstrates what pLDDT-style scoring should look like for hybrid models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quantum experiments classically simulated — methodology consistent with field standard for NISQ-era algorithm research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0" y="731520"/>
            <a:ext cx="3959352" cy="27432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State the major points of the work — see Slide 14 for full conclusions list.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Acknowledgements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research was conducted independently without external funding or institutional support. I thank the open-source scientific computing community (PennyLane, BioPython, RCSB PDB) whose tools made this work possible.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funding.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11091672" cy="2834640"/>
          </a:xfrm>
          <a:prstGeom prst="roundRect">
            <a:avLst>
              <a:gd name="adj" fmla="val 3226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79476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107259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Doga et al. (2024) J. Chem. Theory Comput. DOI: 10.1021/acs.jctc.4c00067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Agathangelou et al. (2025) arXiv:2507.19383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Khatami et al. (2023) PLOS Comput. Biol. DOI: 10.1371/journal.pcbi.1011033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Jumper et al. (2021) Proteins 89:1711. DOI: 10.1002/prot.26257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4b. Jumper et al. (2021) Nature 596:583. DOI: 10.1038/s41586-021-03819-2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Dunbrack (2011) PubMed: 21645855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Bauza et al. (2023) npj Quantum Inf. DOI: 10.1038/s41534-023-00733-5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FlowPacker (2024) bioRxiv 2024.07.05.602280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CalPro (2026) arXiv:2601.07201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Quantum Amenability Decision Framework for Protein Structure Prediction</dc:title>
  <dc:subject>PptxGenJS Presentation</dc:subject>
  <dc:creator>Tommaso Marena</dc:creator>
  <cp:lastModifiedBy>Tommaso Marena</cp:lastModifiedBy>
  <cp:revision>1</cp:revision>
  <dcterms:created xsi:type="dcterms:W3CDTF">2026-04-07T14:51:42Z</dcterms:created>
  <dcterms:modified xsi:type="dcterms:W3CDTF">2026-04-07T14:51:42Z</dcterms:modified>
</cp:coreProperties>
</file>